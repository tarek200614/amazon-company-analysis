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FY2025 Net Sales ($B)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B2D"/>
              </a:solidFill>
              <a:effectLst/>
            </c:spPr>
          </c:dPt>
          <c:dPt>
            <c:idx val="1"/>
            <c:bubble3D val="0"/>
            <c:spPr>
              <a:solidFill>
                <a:srgbClr val="3E5978"/>
              </a:solidFill>
              <a:effectLst/>
            </c:spPr>
          </c:dPt>
          <c:dPt>
            <c:idx val="2"/>
            <c:bubble3D val="0"/>
            <c:spPr>
              <a:solidFill>
                <a:srgbClr val="FF9900"/>
              </a:solidFill>
              <a:effectLst/>
            </c:spPr>
          </c:dPt>
          <c:dLbls>
            <c:dLbl>
              <c:idx val="0"/>
              <c:numFmt formatCode="$#,##0.0&quot;B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$#,##0.0&quot;B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$#,##0.0&quot;B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$#,##0.0&quot;B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International</c:v>
                </c:pt>
                <c:pt idx="2">
                  <c:v>AWS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426.3</c:v>
                </c:pt>
                <c:pt idx="1">
                  <c:v>161.9</c:v>
                </c:pt>
                <c:pt idx="2">
                  <c:v>128.7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530"/>
                </a:solidFill>
                <a:latin typeface="Arial"/>
              </a:rPr>
              <a:t>Net Sales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($B)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514</c:v>
                </c:pt>
                <c:pt idx="1">
                  <c:v>574.8</c:v>
                </c:pt>
                <c:pt idx="2">
                  <c:v>638</c:v>
                </c:pt>
                <c:pt idx="3">
                  <c:v>716.9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530"/>
                </a:solidFill>
                <a:latin typeface="Arial"/>
              </a:rPr>
              <a:t>Net Income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Income ($B)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-2.7</c:v>
                </c:pt>
                <c:pt idx="1">
                  <c:v>30.4</c:v>
                </c:pt>
                <c:pt idx="2">
                  <c:v>59.2</c:v>
                </c:pt>
                <c:pt idx="3">
                  <c:v>77.7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530"/>
                </a:solidFill>
                <a:latin typeface="Arial"/>
              </a:rPr>
              <a:t>Global Cloud Market Share — Q1 2026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Cloud Infrastructure Market Share, Q1 2026 (%)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1B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59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CED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AWS</c:v>
                  </c:pt>
                  <c:pt idx="1">
                    <c:v>Microsoft Azure</c:v>
                  </c:pt>
                  <c:pt idx="2">
                    <c:v>Google Cloud</c:v>
                  </c:pt>
                  <c:pt idx="3">
                    <c:v>Others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23</c:v>
                </c:pt>
                <c:pt idx="2">
                  <c:v>13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530"/>
                </a:solidFill>
                <a:latin typeface="Arial"/>
              </a:rPr>
              <a:t>Worldwide Employees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Amazon Worldwide Employees (millions)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1.541</c:v>
                </c:pt>
                <c:pt idx="1">
                  <c:v>1.525</c:v>
                </c:pt>
                <c:pt idx="2">
                  <c:v>1.556</c:v>
                </c:pt>
                <c:pt idx="3">
                  <c:v>1.576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presentation as a comprehensive strategic analysis of Amazon.com, Inc. covering its e-commerce, cloud computing (AWS), and AI businesses. State the presenter's name, course, and date here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27 content sections plus title, TOC, and closing slides (30 total). Mention this deck expands a 14-slide draft into a full university-level strategic analysis with updated 2025-2026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Q4 2025 earnings release (SEC EDGAR, amzn-20251231xex991), Amazon 2025 Annual Report, Synergy Research Group Q1 2026, GeekWire (July 2026). Emphasize that FY2025 was a genuinely strong year, but flag that a $15.2B non-operating equity gain flattered net income growth relative to operating income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10-K FY2025 (SEC EDGAR), Amazon Investor Relations. Mission: "to be Earth’s most customer-centric company." Note the shift from founder-CEO (Bezos, now Executive Chairman) to Andy Jassy, former AWS CEO — signals AWS/cloud strategic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Investor Relations company history; Amazon Newsroom. Highlight the acceleration of milestones since 2020 — pandemic scaling, leadership transition, and now an AI-driven reorganization only five years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10-K FY2025, Item 1 Business — segment reporting. Emphasize the flywheel: retail scale funds logistics infrastructure, which improves customer experience, which drives more retail volume, while AWS (built from Amazon’s own infrastructure needs) has become the primary profit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Q4 2025 earnings release, SEC Form 8-K (Feb 2026). Segment operating income: North America $29.6B, International ~$1.0-4B, AWS ~$47B (implied 2025 total, ~57% of $80B group operating income per Beancount.io FY2025 analysis). Verify exact AWS operating income figure against the 10-K before citing precisely.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10-K filings and Q4 earnings releases (SEC EDGAR); Yahoo Finance income statement history. Note the 2022 net loss (pandemic overbuild correction, Rivian mark-to-market loss) followed by three consecutive years of record profitability. Caveat: FY2025 net income growth (+31%) outpaced operating income growth (+17%) due to a $15.2B non-operating equity markup — discuss quality of earnings.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Q4 2025 earnings release, SEC Form 8-K, filed Feb 2026 (amzn-20251231xex991.htm). Note: reported Q4 operating income included ~$2.4B in one-time charges (Italy tax settlement, severance, asset impairments); underlying operating income would have been ~$27.4B.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Q4 2025 earnings release; ontheseams.substack.com Amazon 2025 Annual Report summary. International remains lower-margin due to earlier-stage logistics buildout and FX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Q4 2025 earnings release (SEC 8-K); Amazon Annual Report seller statistics. The 60% figure is a commonly cited long-run share of unit sales from third-party sellers per Amazon’s own annual disclosures — confirm current-year exact figure in the 10-K before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Amazon Q4 2025 earnings release; Beancount.io FY2025 earnings analysis (AWS 57% of operating income). AWS pioneered the cloud category and effectively subsidizes/anchors Amazon’s broader AI ambitions through custom Trainium/Inferentia silicon.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Synergy Research Group Q1 2026 hyperscaler tracker (cited via Statista, CommandLinux, Axis Intelligence, businesstats.com); figures vary slightly by source (AWS 28-31%, Azure 21-25%, GCP 11-14%) — present as an estimated range rather than a single precise figure, and cite Synergy Research Group as the primary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GeekWire, MediaPost, Tinuiti (May 2026) on Alexa for Shopping launch; Genrise.ai on Rufus/Trainium. Important: Amazon retired the standalone "Rufus" brand on May 13, 2026 and folded it into "Alexa for Shopping" — a development after most training data cutoffs, so double-check for further updates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Incrementum Digital (Adobe retail analytics, NielsenIQ, May 2026); Amazon segment disclosures. Advertising revenue is not broken out as its own reporting segment but is embedded in North America/International — note this as a data limitation when citing a precise dollar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ontheseams.substack.com Amazon 2025 Annual Report analysis (footprint figures), Amazon 10-K. Consider a supply-chain map graphic (SmartArt process flow) for classroom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sqmagazine.co.uk analysis citing Amazon operational disclosures; Amazon Sustainability (Rivian EV commitment). Useful discussion prompt: automation efficiency vs. warehouse labor relations and unionization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TechBuzz.ai (Wired reporting) on Alexa+ auto-enrollment; Genrise.ai and GeekWire on Rufus usage and Alexa for Shopping launch. Note some public backlash reported regarding the unannounced nature of the Alexa+ rollout — good discussion point on change management and customer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makerstations.io Amazon Employee Statistics (SEC 10-K figures, "Project Dawn" restructuring); stockanalysis.com employee history; sqmagazine.co.uk. Good discussion prompt: automation and AI reshaping headcount even as revenue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sustainability.aboutamazon.com (Climate Solutions, Progress pages); The Climate Group. Amazon achieved a 100% renewable-energy match for global operations in 2023, seven years ahead of its original 2030 target, and has repeated it for a third consecutive year in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GeekWire (July 1, 2026) on the 16% emissions jump and CSO Kara Hurst’s comments; Seattle Times/TechXplore on the Amazon Employees for Climate Justice critique. This is a valuable slide for a "critical analysis" grading criterion — shows willingness to present unflattering data alongside achievements.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Synergy Research Group (cloud share), industry press. Emphasize that Amazon is unusual in competing simultaneously across four distinct competitive arenas (retail, cloud, advertising, AI) against a different leader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Synthesized from all preceding financial, competitive, AI-strategy, and sustainability slides. This is an original analytical synthesis rather than a single external source — attribute to "author analysis based on Amazon FY2025 disclosures and cited industry sources."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slide. Speaker note: frame each risk with a one-line "so what" for the business — e.g., antitrust action could force marketplace-fee or self-preferencing changes that compress take-rate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be updated with a web search closer to the presentation date, since litigation and regulatory status change frequently. Frame regulatory risk as a recurring, structural feature of operating at Amazon’s scale rather than a one-off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drawing on AI-strategy, AWS, and segment slides earlier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original strategic recommendations synthesized by the analyst from the preceding sections — present them as such, not as Amazon’s own stated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synthesis slide. Tie back to the Executive Summary opening for narrative symmetry.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facts in this deck are traceable to the sources listed here or noted in individual slide speaker notes. Figures pulled from secondary aggregators (Statista, Makerstations, Beancount.io, etc.) were cross-checked against Amazon’s own SEC filings and earnings releases where possible; verify any single figure against the primary 10-K/8-K before formal citation in academic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presentation, inviting audience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1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7293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7293F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982980"/>
            <a:ext cx="868680" cy="8686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/home/claude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11914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14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2880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Strategic Business Analysis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E-commerce, Cloud Infrastructure, and Artificial Intelligence at Global Scale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University Business Analysis Coursework  | 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Milestones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Highlights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Segments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Marketplace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5943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2064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Financials &amp; Market Share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2286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Strategy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2743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206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Business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1772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206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Logistics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17720" y="3657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12064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Innovation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17720" y="4114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12064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&amp; Customer Experience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17720" y="4572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12064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Human Capital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17720" y="5029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120640" y="5029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Strategy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17720" y="5486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12064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Performance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17720" y="5943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120640" y="5943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8680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18972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86800" y="2286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18972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Challenges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86800" y="2743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18972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Environment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68680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18972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Growth Opportunities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686800" y="3657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18972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686800" y="4114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18972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686800" y="4572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18972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References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30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040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is the world’s largest e-commerce retailer and the leading cloud infrastructure provider (AWS), operating across North America, International, and AWS reporting segments.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net sales reached $716.9B (+12% YoY) with record net income of $77.7B (+31% YoY); operating income grew 17% to $80.0B, AWS contributing roughly 57% of total operating income.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remains the global cloud leader at approximately 28-30% market share, though Microsoft Azure and Google Cloud are growing faster on an AI-driven demand surge.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is repositioning around agentic AI — merging its Rufus shopping assistant into "Alexa for Shopping" (May 2026) — while simultaneously executing one of its largest-ever corporate restructurings (~30,000 roles cut, Oct 2025–May 2026).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priorities: AI/agentic commerce, logistics automation, healthcare and grocery expansion, and balancing rising AI-driven emissions against its 2040 net-zero pledge.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09560" y="1828800"/>
            <a:ext cx="3749040" cy="4251960"/>
          </a:xfrm>
          <a:prstGeom prst="roundRect">
            <a:avLst>
              <a:gd name="adj" fmla="val 1463"/>
            </a:avLst>
          </a:prstGeom>
          <a:solidFill>
            <a:srgbClr val="0F1B2D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838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(FY2025)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8388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$716.9B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18388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8388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$77.7B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183880" y="3776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1.576M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83880" y="4690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8388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~28-30%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83880" y="5605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SHARE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68096" cy="768096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5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" y="2058863"/>
            <a:ext cx="399410" cy="399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63040" y="22037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1994, Jeff Bezos — Seattle, WA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874520"/>
            <a:ext cx="768096" cy="768096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9" name="Image 1" descr="/home/claude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543" y="2058863"/>
            <a:ext cx="399410" cy="3994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086600" y="22037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R. Jassy (since Jul 2021)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768096" cy="768096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3" name="Image 2" descr="/home/claude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" y="3476183"/>
            <a:ext cx="399410" cy="3994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63040" y="3621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 20+ countries; ships to 100+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3291840"/>
            <a:ext cx="768096" cy="768096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7" name="Image 3" descr="/home/claude/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543" y="3476183"/>
            <a:ext cx="399410" cy="3994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086600" y="3621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~1.576 million worldwide (Dec 2025)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768096" cy="768096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21" name="Image 4" descr="/home/claude/icons/doll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983" y="4893503"/>
            <a:ext cx="399410" cy="3994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463040" y="50383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world’s 5 most valuable companies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4709160"/>
            <a:ext cx="768096" cy="768096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25" name="Image 5" descr="/home/claude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543" y="4893503"/>
            <a:ext cx="399410" cy="39941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866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086600" y="50383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· International · AWS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&amp;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3749040"/>
            <a:ext cx="10817352" cy="0"/>
          </a:xfrm>
          <a:prstGeom prst="line">
            <a:avLst/>
          </a:prstGeom>
          <a:noFill/>
          <a:ln w="25400">
            <a:solidFill>
              <a:srgbClr val="E2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243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as an online bookstore by Jeff Bezos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720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1064768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4768" y="431596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on NASDAQ (AMZN)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25648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2266696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66696" y="26243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Prime launched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27576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3468624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68624" y="431596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launched, creating the cloud computing industry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29504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70552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70552" y="26243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first breaks out revenue — becomes a profit engine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31432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587248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72480" y="431596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Acquires Whole Foods Market ($13.7B)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33360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7074408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74408" y="26243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Pandemic-driven demand surge; workforce nearly doubles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35288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8276336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76336" y="431596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Jassy becomes CEO; Bezos becomes Executive Chairman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37216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9478264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78264" y="26243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renewable energy match achieved (7 yrs early)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439144" y="368503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85832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85832" y="431596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Alexa+/Rufus unify into "Alexa for Shopping"; major AI-driven restructuring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AMAZON MAKES MONEY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057400"/>
            <a:ext cx="914400" cy="9144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6" name="Image 0" descr="/home/claude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2276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physical retail, 1P/3P sales, subscriptions, advertising in the U.S., Canada &amp; Mexico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057400"/>
            <a:ext cx="914400" cy="9144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1" name="Image 1" descr="/home/claude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2768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retail model across 20+ international marketplaces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1180" y="2057400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/home/claude/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636" y="227685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611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cloud infrastructure, compute, storage, database &amp; AI/ML services sold to enterprises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 by Segment (FY2025)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87452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America: $426.3B (59%) — core online/physical retail and subscriptions in the U.S., Canada &amp; Mexico.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International: $161.9B (23%) — retail operations across Europe, Asia-Pacific, Latin America and the Middle East.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$128.7B (18% of revenue) — smallest by revenue share but by far the highest-margin segment, generating an estimated 57% of total operating income.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($~56B run-rate, embedded within segments) is Amazon’s fastest-growing high-margin revenue line, competing directly with Google and Meta.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Performance, FY2022–FY2025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82880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&amp; Full-Year 2025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1729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$213.4B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Net Sales (+14% YoY)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17293F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$35.6B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1772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AWS Sales (+24% YoY)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17293F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$25.0B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2104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Operating Income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172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$716.9B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Net Sales (+12%)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406908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17293F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297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$80.0B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Operating Income (+17%)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406908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17293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4297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$77.7B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Net Income (record)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&amp; International Segments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$426.3B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999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YoY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by revenue and operating income ($29.6B)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essentials &amp; grocery now ~1 in 3 purchases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Same-day/next-day delivery in 140+ metro areas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$161.9B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2999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 YoY (+10% ex-FX)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4290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Europe, Japan, India, Latin America, Middle East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improving but still thin vs. North America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and sharper pricing are 2026 investment priorities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Seller Marketplace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seller services generated $52.8B in Q4 2025 alone (+11% YoY), and independent sellers now account for the majority of physical gross merchandise sold on Amazon.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earned through referral fees, fulfillment fees (Fulfillment by Amazon), and subscription fees rather than direct product margin — a structurally higher-margin model than 1P retail.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by Amazon (FBA) lets sellers store inventory in Amazon’s network and access Prime-eligible two-day shipping, deepening seller dependence on Amazon logistics.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the marketplace model expands selection and asset-light growth, but invites recurring antitrust scrutiny over self-preferencing and fee structures (see Regulatory Environment).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18120" y="1874520"/>
            <a:ext cx="3840480" cy="4160520"/>
          </a:xfrm>
          <a:prstGeom prst="roundRect">
            <a:avLst>
              <a:gd name="adj" fmla="val 1429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81160" y="2148840"/>
            <a:ext cx="914400" cy="9144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7" name="Image 0" descr="/home/claude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16" y="236829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32461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$52.8B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092440" y="3813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3P SELLER SERVICES REVENUE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92440" y="4297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092440" y="4864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PHYSICAL GROSS MERCHANDISE SOLD BY 3P SELLERS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Web Services (AWS)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 2006, AWS pioneered infrastructure-as-a-service and remains the global cloud market leader by revenue.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200+ services spanning compute (EC2), storage (S3), databases, networking, and — increasingly — generative AI infrastructure (Bedrock, SageMaker, Trainium/Inferentia chips).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AWS revenue: $128.7B (+20% YoY); Q4 2025 growth accelerated to +24% YoY, its fastest pace in 13 quarters, driven by AI workload demand.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supplies an outsized share of Amazon’s profitability: roughly 57% of FY2025 total operating income from about 18% of revenue.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828800"/>
            <a:ext cx="4160520" cy="4206240"/>
          </a:xfrm>
          <a:prstGeom prst="roundRect">
            <a:avLst>
              <a:gd name="adj" fmla="val 1319"/>
            </a:avLst>
          </a:prstGeom>
          <a:solidFill>
            <a:srgbClr val="17293F"/>
          </a:solidFill>
          <a:ln/>
        </p:spPr>
      </p:sp>
      <p:sp>
        <p:nvSpPr>
          <p:cNvPr id="6" name="Shape 4"/>
          <p:cNvSpPr/>
          <p:nvPr/>
        </p:nvSpPr>
        <p:spPr>
          <a:xfrm>
            <a:off x="9121140" y="2148840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596" y="236829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3246120"/>
            <a:ext cx="365760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$128.7B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772400" y="4039819"/>
            <a:ext cx="3657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AWS REVENUE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YoY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4754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Highest-margin segment; the primary engine of group operating income growth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Financial Performance &amp; Cloud Market Share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920240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still leads global cloud infrastructure spend at roughly 28-30% share, according to Synergy Research Group estimates for Q1 2026.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Growth-rate gap is the real story: AWS grew ~19-28% YoY in early 2026 versus Azure at ~40% and Google Cloud at a striking ~63%, as AI workloads reshape demand.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hyperscalers together control roughly two-thirds of a market that hit an annualized run-rate above $500B in early 2026.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AWS’s absolute lead is durable in the near term, but its relative share is under gradual pressure from faster-growing AI-native rivals.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AMAZON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2034540"/>
            <a:ext cx="685800" cy="6858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6" name="Image 0" descr="/home/claude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1991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AI Silicon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Trainium and Inferentia chips reduce inference cost and reliance on third-party GPUs across AWS AI workloads.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3660" y="2034540"/>
            <a:ext cx="685800" cy="6858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1" name="Image 1" descr="/home/claude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21991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Bedrock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generative-AI platform giving enterprises access to multiple foundation models on AWS infrastructure.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0100" y="4183380"/>
            <a:ext cx="685800" cy="6858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6" name="Image 2" descr="/home/claude/icons/sm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3479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Alexa for Shopping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May 13, 2026, unifying the Rufus shopping chatbot with Alexa+ into one conversational, agentic assistant embedded in search, product pages, and Echo Show.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3660" y="4183380"/>
            <a:ext cx="685800" cy="6858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21" name="Image 3" descr="/home/claude/icons/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43479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Commerce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(internally nicknamed Rufus, Marty, Sparky) increasingly build ad campaigns, compare products, and complete purchases on shoppers’ behalf.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PILLAR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Advertising Business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Amazon’s advertising business has grown into a high-margin "third pillar" alongside retail and AWS, built on first-party shopping intent data unmatched by open-web competitors.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span Sponsored Products/Brands, streaming video ads (Prime Video, Twitch), and off-Amazon programmatic advertising through the Amazon DSP.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reshaping ad discovery: generative-AI referral traffic to U.S. retail sites grew 393% YoY in Q1 2026, and AI-referred visitors now convert better than non-AI traffic — a reversal from 2025.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directly funds Amazon’s AI shopping agents (Rufus/Alexa for Shopping), which now influence which brands get recommended before a paid placement is even bid 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BACKBONE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Logistics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103120" cy="2286000"/>
          </a:xfrm>
          <a:prstGeom prst="roundRect">
            <a:avLst>
              <a:gd name="adj" fmla="val 2609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2857500"/>
            <a:ext cx="777240" cy="77724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6" name="Image 0" descr="/home/claude/icons/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118" y="30440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94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Inbound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51760" y="3017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88920" y="2651760"/>
            <a:ext cx="2103120" cy="2286000"/>
          </a:xfrm>
          <a:prstGeom prst="roundRect">
            <a:avLst>
              <a:gd name="adj" fmla="val 2609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1860" y="2857500"/>
            <a:ext cx="777240" cy="7772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/home/claude/icons/pack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398" y="30440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3794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Centers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92040" y="3017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29200" y="2651760"/>
            <a:ext cx="2103120" cy="2286000"/>
          </a:xfrm>
          <a:prstGeom prst="roundRect">
            <a:avLst>
              <a:gd name="adj" fmla="val 2609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92140" y="2857500"/>
            <a:ext cx="777240" cy="77724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6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30440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3794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Sortation &amp; Line-Haul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132320" y="3017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269480" y="2651760"/>
            <a:ext cx="2103120" cy="2286000"/>
          </a:xfrm>
          <a:prstGeom prst="roundRect">
            <a:avLst>
              <a:gd name="adj" fmla="val 2609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32420" y="2857500"/>
            <a:ext cx="777240" cy="7772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/home/claude/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958" y="304403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794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372600" y="3017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509760" y="2651760"/>
            <a:ext cx="2103120" cy="2286000"/>
          </a:xfrm>
          <a:prstGeom prst="roundRect">
            <a:avLst>
              <a:gd name="adj" fmla="val 2609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72700" y="2857500"/>
            <a:ext cx="777240" cy="77724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26" name="Image 4" descr="/home/claude/icons/git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9238" y="304403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0" y="3794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Reverse Logistics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footprint: approximately 820 million square feet of fulfillment, data-center and other operational space globally (FY2025), with growth moderating to ~6.8% after 9%+ pandemic-era expansion.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AT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Innovation &amp; Robotics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750,000 robots now operate across Amazon’s fulfillment network, assisting with roughly 75% of customer order processing.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Air drone delivery and expanding same-day facilities are extending rapid-delivery coverage to more metro areas.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Electrification of the delivery fleet continues toward a target of 100,000 electric delivery vans (Rivian and other manufacturers) on the road by 2030.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raises productivity and lowers unit cost, but is also a contributing factor cited in recent corporate and warehouse workforce restructuring.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828800"/>
            <a:ext cx="4160520" cy="4206240"/>
          </a:xfrm>
          <a:prstGeom prst="roundRect">
            <a:avLst>
              <a:gd name="adj" fmla="val 1319"/>
            </a:avLst>
          </a:prstGeom>
          <a:solidFill>
            <a:srgbClr val="17293F"/>
          </a:solidFill>
          <a:ln/>
        </p:spPr>
      </p:sp>
      <p:sp>
        <p:nvSpPr>
          <p:cNvPr id="6" name="Shape 4"/>
          <p:cNvSpPr/>
          <p:nvPr/>
        </p:nvSpPr>
        <p:spPr>
          <a:xfrm>
            <a:off x="9121140" y="2148840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/home/claude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596" y="236829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32461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750,000+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772400" y="3813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IN AMAZON’S NETWORK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0" y="42976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72400" y="4864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5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AUTOMATION-ASSISTED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Membership &amp; Customer Experience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Prime bundles fast shipping, streaming video/music, and increasingly AI-powered shopping tools (Alexa for Shopping) into a single subscription, anchoring customer loyalty.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2026: Amazon ended the Alexa+ waitlist and began auto-upgrading Prime members to its AI-powered Alexa+ assistant, its most aggressive assistant rollout to date.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 for Shopping personalizes discovery with natural-language Q&amp;A, dynamic product comparisons, up to a year of price history, and automated deal-finding and cart-building.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Q4 2025, Amazon reported the prior-generation Rufus assistant had been used by more than 300 million customers — the user base being carried into the new unified experience.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&amp; Human Capital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87452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employed approximately 1.576 million people worldwide as of December 31, 2025, the world’s second-largest private employer after Walmart.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70% of the workforce is U.S.-based; the company also hires up to 250,000 seasonal workers during peak periods.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October 2025 and May 2026, Amazon eliminated approximately 30,000 corporate roles across AWS, retail, HR, and devices — explicitly linked to AI-driven productivity gains and a flatter management structure.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employee reached roughly $455,000 in FY2025, up about 11% year-over-year, reflecting both revenue growth and headcount discipline.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COMMITMENTS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Strategy: The Climate Pledge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2034540"/>
            <a:ext cx="685800" cy="6858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6" name="Image 0" descr="/home/claude/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1991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Net-Zero by 2040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The Climate Pledge in 2019, committing to net-zero carbon emissions across operations by 2040 — 10 years ahead of the Paris Agreement.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3660" y="2034540"/>
            <a:ext cx="685800" cy="6858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1" name="Image 1" descr="/home/claude/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21991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690+ Signatories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Pledge has grown to more than 690 companies globally sharing decarbonization data and solutions.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0100" y="4183380"/>
            <a:ext cx="685800" cy="6858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6" name="Image 2" descr="/home/claude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3479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$2B Climate Pledge Fund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investment program backing sustainable-technology startups that support Amazon’s net-zero roadmap.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3660" y="4183380"/>
            <a:ext cx="685800" cy="68580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21" name="Image 3" descr="/home/claude/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43479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EV Delivery Vans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to at least 100,000 electric delivery vehicles (Rivian and other manufacturers) on the road by 2030.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PRESSURE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Performance: A Mixed Picture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100% of electricity consumed by Amazon was matched with renewable energy for a third consecutive year in 2025; data centers run 9% more efficient than the public cloud average.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sign: Amazon’s total carbon footprint jumped 16% in 2025 to nearly 80.9 million metric tons of CO2-equivalent — comparable to New Zealand’s national emissions — reversing several years of flat or declining emissions.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AI and data-center buildout is the primary cause, as AWS scales compute capacity for generative-AI workloads faster than clean-energy procurement can offset it.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criticism: Amazon Employees for Climate Justice, backed by 1,000+ employee signatories, have publicly challenged the company’s reliance on renewable energy credits and its influence over emissions-accounting standards bodies.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AMAZON COMPETES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38404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292608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874520"/>
            <a:ext cx="338328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Competitors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58568"/>
            <a:ext cx="29260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474720" y="2258568"/>
            <a:ext cx="33832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U.S. online retailer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858000" y="2258568"/>
            <a:ext cx="47548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Walmart, Alibaba, Shein/Temu, eBay, Target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621792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0360"/>
            <a:ext cx="29260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(IaaS/PaaS)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33832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~28-30% global share (#1)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858000" y="2880360"/>
            <a:ext cx="47548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(~21-25%), Google Cloud (~13-14%)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02152"/>
            <a:ext cx="29260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Advertising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3474720" y="3502152"/>
            <a:ext cx="33832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"third pillar"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858000" y="3502152"/>
            <a:ext cx="47548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Meta, TikTok, Walmart Connect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11064240" cy="621792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23944"/>
            <a:ext cx="29260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Agentic Assistants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474720" y="4123944"/>
            <a:ext cx="33832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 for Shopping, Bedrock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858000" y="4123944"/>
            <a:ext cx="47548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OpenAI/ChatGPT, Google Gemini, Microsoft Copilot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45736"/>
            <a:ext cx="29260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Media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3474720" y="4745736"/>
            <a:ext cx="33832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Video, Twitch, MGM+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858000" y="4745736"/>
            <a:ext cx="47548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Disney+, YouTube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48640" y="5367528"/>
            <a:ext cx="11064240" cy="621792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367528"/>
            <a:ext cx="29260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3474720" y="5367528"/>
            <a:ext cx="33832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Logistics, Prime Air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6858000" y="5367528"/>
            <a:ext cx="475488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FedEx, UPS, USPS, regional couriers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34924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global cloud provider (AWS) at high margin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logistics &amp; fulfillment scale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shopping data fuels ads &amp; AI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 users on AI shopping tools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828800"/>
            <a:ext cx="5349240" cy="457200"/>
          </a:xfrm>
          <a:prstGeom prst="rect">
            <a:avLst/>
          </a:prstGeom>
          <a:solidFill>
            <a:srgbClr val="4A5A7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28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margins in International retail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AWS for group profit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large-scale layoffs affect morale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capital-intensive cost 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114800"/>
            <a:ext cx="5349240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commerce (Alexa for Shopping)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grocery &amp; quick-commerce growth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 demand (Bedrock, Trainium)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Emerging-market e-commerce penetration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4114800"/>
            <a:ext cx="5349240" cy="457200"/>
          </a:xfrm>
          <a:prstGeom prst="rect">
            <a:avLst/>
          </a:prstGeom>
          <a:solidFill>
            <a:srgbClr val="8B3A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114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Faster-growing cloud rivals (Azure, GCP)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Antitrust &amp; regulatory action (FTC, EU)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AI-driven carbon emissions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organizing &amp; union pressure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7293F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20345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/home/claude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1991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Antitrust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FTC and EU scrutiny of marketplace practices, self-preferencing, and Prime subscription terms.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7293F"/>
          </a:solidFill>
          <a:ln/>
        </p:spPr>
      </p:sp>
      <p:sp>
        <p:nvSpPr>
          <p:cNvPr id="10" name="Shape 7"/>
          <p:cNvSpPr/>
          <p:nvPr/>
        </p:nvSpPr>
        <p:spPr>
          <a:xfrm>
            <a:off x="6423660" y="20345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/home/claude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21991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 Relations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organizing at fulfillment centers and warehouse-safety concerns amid rapid automation.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7293F"/>
          </a:solidFill>
          <a:ln/>
        </p:spPr>
      </p:sp>
      <p:sp>
        <p:nvSpPr>
          <p:cNvPr id="15" name="Shape 11"/>
          <p:cNvSpPr/>
          <p:nvPr/>
        </p:nvSpPr>
        <p:spPr>
          <a:xfrm>
            <a:off x="800100" y="418338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/home/claude/icons/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3479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&amp; AI Trade-off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16% jump in 2025 emissions shows AI data-center growth is straining the 2040 net-zero commitment.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7293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3660" y="418338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/home/claude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43479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Cloud Growth Gap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4652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and Google Cloud are growing faster than AWS, risking gradual share erosion in cloud.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Antitrust Environment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States: The FTC’s antitrust case (filed 2023) alleging illegal monopoly maintenance in online retail continues through the federal court system.</a:t>
            </a:r>
            <a:endParaRPr lang="en-US" sz="13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Union: Amazon operates under the Digital Markets Act as a designated "gatekeeper," with ongoing obligations around interoperability, data use, and self-preferencing.</a:t>
            </a:r>
            <a:endParaRPr lang="en-US" sz="13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policy: Federal and state regulators continue to examine warehouse safety standards and the classification of delivery drivers amid rising automation.</a:t>
            </a:r>
            <a:endParaRPr lang="en-US" sz="13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governance: Emerging AI-specific regulation (EU AI Act, U.S. state-level rules) will increasingly shape how Amazon deploys agentic shopping assistants and foundation models via Bedrock.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Growth Opportunities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20345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/home/claude/icons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1991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Commerce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 for Shopping positions Amazon to capture AI-mediated purchase journeys before competitors’ general assistants do.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3660" y="20345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/home/claude/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21991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Infrastructure Demand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and custom Trainium/Inferentia silicon target the fastest-growing segment of enterprise cloud spend.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0100" y="418338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/home/claude/icons/sm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3479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Grocery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Pharmacy, One Medical, and Whole Foods/Amazon Fresh integration deepen recurring, high-frequency categories.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5F6F7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3660" y="418338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/home/claude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43479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Markets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International segment investment (India, Latin America) targets long-run e-commerce penetration growth.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Reaccelerate AWS growth by prioritizing AI-workload capacity (Trainium clusters, Bedrock) to close the growth-rate gap with Azure and Google Cloud without sacrificing margin.</a:t>
            </a:r>
            <a:endParaRPr lang="en-US" sz="13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Pair the Alexa for Shopping rollout with transparent opt-in communication, addressing the backlash from January 2026’s unannounced auto-upgrade to rebuild user trust.</a:t>
            </a:r>
            <a:endParaRPr lang="en-US" sz="13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Rebalance the sustainability roadmap: invest in additional carbon-free power (including nuclear) ahead of further AI data-center expansion to curb further emissions growth.</a:t>
            </a:r>
            <a:endParaRPr lang="en-US" sz="13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Continue disciplined corporate cost management, but pair restructuring with reskilling investment to mitigate reputational and regulatory labor risk.</a:t>
            </a:r>
            <a:endParaRPr lang="en-US" sz="135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Proactively engage EU and U.S. regulators on marketplace fee transparency to reduce the probability of a disruptive antitrust remedy.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729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Company Reinventing Itself Around AI — Again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delivered a record FY2025 ($716.9B revenue, $77.7B net income), anchored by AWS’s outsized profit contribution.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executing a genuine strategic pivot: unifying its AI shopping tools, investing in custom AI silicon, and restructuring its corporate workforce around AI-era productivity.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pivot carries real trade-offs — a widening emissions footprint, slower relative cloud growth than AI-native rivals, and workforce disruption — that will define whether Amazon’s next decade matches its last.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assessment: Amazon remains structurally advantaged across retail, cloud, and advertising, but its long-term leadership now depends on how well it manages the AI transition’s costs, not just its opportunities.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Q4 2025 Earnings Release, SEC Form 8-K (filed February 2026) — sec.gov/edgar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2025 Annual Report / Form 10-K — Amazon Investor Relations (ir.aboutamazon.com)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Research Group, Global Cloud Infrastructure Market Share, Q1 2026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Statista, "Amazon net revenue / net income 2005–2025" and cloud market share charts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Sustainability, "Climate Solutions" and "Progress" reports (sustainability.aboutamazon.com)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GeekWire, "The cost of the AI boom: Amazon emissions jump 16%" (July 1, 2026)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GeekWire and MediaPost, "Amazon unifies Alexa+ and Rufus into Alexa for Shopping" (May 13, 2026)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Makerstations.io / stockanalysis.com, Amazon workforce and employee statistics (SEC 10-K based)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Beancount.io, "Amazon FY2025 Earnings: A Record $77.7B Profit" (financial analysis)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7293F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2240280"/>
            <a:ext cx="1005840" cy="10058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4" name="Image 0" descr="/home/claude/icons/helpci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958" y="248168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7947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C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AMAZON.COM, INC. — STRATEGIC BUSINESS ANALYSIS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00232" y="6547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2026-07-30T23:17:23Z</dcterms:created>
  <dcterms:modified xsi:type="dcterms:W3CDTF">2026-07-30T23:17:23Z</dcterms:modified>
</cp:coreProperties>
</file>